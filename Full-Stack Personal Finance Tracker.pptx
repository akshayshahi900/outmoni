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Spline Sans"/>
      <p:bold r:id="rId15"/>
    </p:embeddedFont>
    <p:embeddedFont>
      <p:font typeface="Spline Sans Light"/>
      <p:regular r:id="rId16"/>
      <p:bold r:id="rId17"/>
    </p:embeddedFont>
    <p:embeddedFont>
      <p:font typeface="Barlow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Barlow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lineSans-bold.fntdata"/><Relationship Id="rId14" Type="http://schemas.openxmlformats.org/officeDocument/2006/relationships/slide" Target="slides/slide10.xml"/><Relationship Id="rId17" Type="http://schemas.openxmlformats.org/officeDocument/2006/relationships/font" Target="fonts/SplineSansLight-bold.fntdata"/><Relationship Id="rId16" Type="http://schemas.openxmlformats.org/officeDocument/2006/relationships/font" Target="fonts/SplineSansLight-regular.fntdata"/><Relationship Id="rId5" Type="http://schemas.openxmlformats.org/officeDocument/2006/relationships/slide" Target="slides/slide1.xml"/><Relationship Id="rId19" Type="http://schemas.openxmlformats.org/officeDocument/2006/relationships/font" Target="fonts/Barlow-bold.fntdata"/><Relationship Id="rId6" Type="http://schemas.openxmlformats.org/officeDocument/2006/relationships/slide" Target="slides/slide2.xml"/><Relationship Id="rId18" Type="http://schemas.openxmlformats.org/officeDocument/2006/relationships/font" Target="fonts/Barlow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540023" y="1083618"/>
            <a:ext cx="463495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700"/>
              <a:buFont typeface="Spline Sans"/>
              <a:buNone/>
            </a:pPr>
            <a:r>
              <a:rPr b="1" i="0" lang="en-US" sz="2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Outmoni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40023" y="1743670"/>
            <a:ext cx="4634954" cy="1182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700"/>
              <a:buFont typeface="Spline Sans"/>
              <a:buNone/>
            </a:pPr>
            <a:r>
              <a:rPr b="1" i="0" lang="en-US" sz="3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Full-Stack Personal Finance Tracker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40023" y="3157984"/>
            <a:ext cx="463495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modern, monorepo-powered finance app — built to help individuals track, visualize, and take control of their money.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40023" y="3825329"/>
            <a:ext cx="864617" cy="234479"/>
          </a:xfrm>
          <a:prstGeom prst="roundRect">
            <a:avLst>
              <a:gd fmla="val 78969" name="adj"/>
            </a:avLst>
          </a:prstGeom>
          <a:solidFill>
            <a:srgbClr val="00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632594" y="3871615"/>
            <a:ext cx="1136675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Barlow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TURBOREPO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481733" y="3825329"/>
            <a:ext cx="658192" cy="234479"/>
          </a:xfrm>
          <a:prstGeom prst="roundRect">
            <a:avLst>
              <a:gd fmla="val 78969" name="adj"/>
            </a:avLst>
          </a:prstGeom>
          <a:noFill/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574304" y="3871615"/>
            <a:ext cx="930250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950"/>
              <a:buFont typeface="Barlow"/>
              <a:buNone/>
            </a:pPr>
            <a:r>
              <a:rPr b="0" i="0" lang="en-US" sz="95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NEXT.JS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217018" y="3825329"/>
            <a:ext cx="868933" cy="234479"/>
          </a:xfrm>
          <a:prstGeom prst="roundRect">
            <a:avLst>
              <a:gd fmla="val 78969" name="adj"/>
            </a:avLst>
          </a:prstGeom>
          <a:noFill/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309589" y="3871615"/>
            <a:ext cx="1140991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950"/>
              <a:buFont typeface="Barlow"/>
              <a:buNone/>
            </a:pPr>
            <a:r>
              <a:rPr b="0" i="0" lang="en-US" sz="95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TYPESCRIPT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163044" y="3825329"/>
            <a:ext cx="739527" cy="234479"/>
          </a:xfrm>
          <a:prstGeom prst="roundRect">
            <a:avLst>
              <a:gd fmla="val 78969" name="adj"/>
            </a:avLst>
          </a:prstGeom>
          <a:noFill/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255615" y="3871615"/>
            <a:ext cx="1011585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6FFBB"/>
              </a:buClr>
              <a:buSzPts val="950"/>
              <a:buFont typeface="Barlow"/>
              <a:buNone/>
            </a:pPr>
            <a:r>
              <a:rPr b="0" i="0" lang="en-US" sz="950" u="none" cap="none" strike="noStrike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MONGODB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3969023" y="642119"/>
            <a:ext cx="463495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700"/>
              <a:buFont typeface="Spline Sans"/>
              <a:buNone/>
            </a:pPr>
            <a:r>
              <a:rPr b="1" i="0" lang="en-US" sz="2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The Problem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969023" y="1302172"/>
            <a:ext cx="2240310" cy="1892796"/>
          </a:xfrm>
          <a:prstGeom prst="roundRect">
            <a:avLst>
              <a:gd fmla="val 12228" name="adj"/>
            </a:avLst>
          </a:prstGeom>
          <a:solidFill>
            <a:srgbClr val="0A081B"/>
          </a:solidFill>
          <a:ln cap="flat" cmpd="sng" w="190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142333" y="1475482"/>
            <a:ext cx="189368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💸</a:t>
            </a: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No Clear Picture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142333" y="1787128"/>
            <a:ext cx="1893689" cy="12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Most people lack a unified view of income, expenses, and spending habits — making informed financial decisions nearly impossible.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363593" y="1302172"/>
            <a:ext cx="2240384" cy="1892796"/>
          </a:xfrm>
          <a:prstGeom prst="roundRect">
            <a:avLst>
              <a:gd fmla="val 12228" name="adj"/>
            </a:avLst>
          </a:prstGeom>
          <a:solidFill>
            <a:srgbClr val="0A081B"/>
          </a:solidFill>
          <a:ln cap="flat" cmpd="sng" w="190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536903" y="1475482"/>
            <a:ext cx="18937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Fragmented Tools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536903" y="1787128"/>
            <a:ext cx="1893763" cy="12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Spreadsheets, bank apps, and notebooks don't talk to each other. Data is scattered, inconsistent, and hard to visualize.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969023" y="3349228"/>
            <a:ext cx="4634954" cy="1152079"/>
          </a:xfrm>
          <a:prstGeom prst="roundRect">
            <a:avLst>
              <a:gd fmla="val 20090" name="adj"/>
            </a:avLst>
          </a:prstGeom>
          <a:solidFill>
            <a:srgbClr val="0A081B"/>
          </a:solidFill>
          <a:ln cap="flat" cmpd="sng" w="190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142333" y="3522538"/>
            <a:ext cx="4288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🔒</a:t>
            </a: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Privacy Concerns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142333" y="3834185"/>
            <a:ext cx="428833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Users are wary of sharing financial data with third-party aggregators. Trust and transparency are non-negotiable.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540023" y="435322"/>
            <a:ext cx="8063954" cy="281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750"/>
              <a:buFont typeface="Spline Sans"/>
              <a:buNone/>
            </a:pPr>
            <a:r>
              <a:rPr b="1" i="0" lang="en-US" sz="17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The Solution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890960"/>
            <a:ext cx="5155034" cy="29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5946874" y="2050033"/>
            <a:ext cx="2661791" cy="1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850"/>
              <a:buFont typeface="Spline Sans"/>
              <a:buNone/>
            </a:pPr>
            <a:r>
              <a:rPr b="1" i="0" lang="en-US" sz="8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Outmoni brings clarity to personal finance.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946874" y="2257127"/>
            <a:ext cx="2661791" cy="4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750"/>
              <a:buFont typeface="Barlow"/>
              <a:buNone/>
            </a:pPr>
            <a:r>
              <a:rPr b="0" i="0" lang="en-US" sz="7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self-hosted, full-stack finance tracker that gives users a real-time, visual overview of their financial health — without relying on third-party data aggregators.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974" y="3964670"/>
            <a:ext cx="151879" cy="15187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869007" y="3961507"/>
            <a:ext cx="3661470" cy="1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Spline Sans"/>
              <a:buNone/>
            </a:pPr>
            <a:r>
              <a:rPr b="1" i="0" lang="en-US" sz="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Secure login via Google OAuth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1474" y="3964670"/>
            <a:ext cx="151879" cy="15187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4942508" y="3961507"/>
            <a:ext cx="3661470" cy="1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Spline Sans"/>
              <a:buNone/>
            </a:pPr>
            <a:r>
              <a:rPr b="1" i="0" lang="en-US" sz="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CRUD APIs for income &amp; expenses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974" y="4404457"/>
            <a:ext cx="151879" cy="15187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869007" y="4401294"/>
            <a:ext cx="3661470" cy="1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Spline Sans"/>
              <a:buNone/>
            </a:pPr>
            <a:r>
              <a:rPr b="1" i="0" lang="en-US" sz="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Responsive dashboard with live charts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1474" y="4404457"/>
            <a:ext cx="151879" cy="15187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4942508" y="4401294"/>
            <a:ext cx="3661470" cy="1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Spline Sans"/>
              <a:buNone/>
            </a:pPr>
            <a:r>
              <a:rPr b="1" i="0" lang="en-US" sz="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Category &amp; date filters for deep insights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540023" y="1000571"/>
            <a:ext cx="806395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700"/>
              <a:buFont typeface="Spline Sans"/>
              <a:buNone/>
            </a:pPr>
            <a:r>
              <a:rPr b="1" i="0" lang="en-US" sz="2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Key Features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1737792"/>
            <a:ext cx="1085329" cy="67076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540023" y="2601441"/>
            <a:ext cx="187129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Google OAuth Auth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40023" y="2908325"/>
            <a:ext cx="1871290" cy="12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Secure, seamless authentication powered by Google OAuth 2.0 — no password management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4195" y="1737792"/>
            <a:ext cx="1085329" cy="67076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/>
          <p:nvPr/>
        </p:nvSpPr>
        <p:spPr>
          <a:xfrm>
            <a:off x="2604195" y="2601441"/>
            <a:ext cx="187136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CRUD APIs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2604195" y="2908325"/>
            <a:ext cx="1871365" cy="12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Full RESTful APIs for managing income and expense records with validation and error handling.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8441" y="1737792"/>
            <a:ext cx="1085329" cy="67076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/>
          <p:nvPr/>
        </p:nvSpPr>
        <p:spPr>
          <a:xfrm>
            <a:off x="4668441" y="2601441"/>
            <a:ext cx="187129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Smart Filters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668441" y="2908325"/>
            <a:ext cx="1871290" cy="98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Filter transactions by category, date range, or type to uncover spending patterns instantly.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2612" y="1737792"/>
            <a:ext cx="1085329" cy="67076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/>
          <p:nvPr/>
        </p:nvSpPr>
        <p:spPr>
          <a:xfrm>
            <a:off x="6732612" y="2601441"/>
            <a:ext cx="187136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Responsive Dashboard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732612" y="2908325"/>
            <a:ext cx="1871365" cy="98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Mobile-first, responsive UI with an interactive income vs. expense chart built for every screen size.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Tech Stack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40023" y="2113062"/>
            <a:ext cx="4395118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Outmoni is built with a modern, type-safe stack designed for scalability and developer experience.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2249016"/>
            <a:ext cx="1949648" cy="50408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/>
          <p:nvPr/>
        </p:nvSpPr>
        <p:spPr>
          <a:xfrm>
            <a:off x="664741" y="2335634"/>
            <a:ext cx="17383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50"/>
              <a:buFont typeface="Spline Sans"/>
              <a:buNone/>
            </a:pPr>
            <a:r>
              <a:rPr b="1" i="0" lang="en-US" sz="6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Next.js 14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664741" y="2481337"/>
            <a:ext cx="1738313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React framework with App Router, SSR, and API routes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8218" y="2249016"/>
            <a:ext cx="1949723" cy="5040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2652936" y="2335634"/>
            <a:ext cx="1738387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50"/>
              <a:buFont typeface="Spline Sans"/>
              <a:buNone/>
            </a:pPr>
            <a:r>
              <a:rPr b="1" i="0" lang="en-US" sz="6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Express.js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2652936" y="2481337"/>
            <a:ext cx="1738387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Lightweight backend server with RESTful API design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023" y="2791644"/>
            <a:ext cx="1949648" cy="50408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664741" y="2878262"/>
            <a:ext cx="17383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50"/>
              <a:buFont typeface="Spline Sans"/>
              <a:buNone/>
            </a:pPr>
            <a:r>
              <a:rPr b="1" i="0" lang="en-US" sz="6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TypeScript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664741" y="3023964"/>
            <a:ext cx="1738313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End-to-end type safety across frontend and backend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8218" y="2791644"/>
            <a:ext cx="1949723" cy="504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2652936" y="2878262"/>
            <a:ext cx="1738387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50"/>
              <a:buFont typeface="Spline Sans"/>
              <a:buNone/>
            </a:pPr>
            <a:r>
              <a:rPr b="1" i="0" lang="en-US" sz="6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MongoDB + Prisma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2652936" y="3023964"/>
            <a:ext cx="1738387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Flexible document database with a powerful ORM layer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0822" y="739825"/>
            <a:ext cx="3937918" cy="393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TurboRepo Monorepo Architecture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548" y="715714"/>
            <a:ext cx="4704829" cy="402743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2702396" y="1935642"/>
            <a:ext cx="1612781" cy="20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Spline Sans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Spline Sans"/>
                <a:ea typeface="Spline Sans"/>
                <a:cs typeface="Spline Sans"/>
                <a:sym typeface="Spline Sans"/>
              </a:rPr>
              <a:t>Apps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5065121" y="1798556"/>
            <a:ext cx="1580526" cy="20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Spline Sans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Spline Sans"/>
                <a:ea typeface="Spline Sans"/>
                <a:cs typeface="Spline Sans"/>
                <a:sym typeface="Spline Sans"/>
              </a:rPr>
              <a:t>Shared Packages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282922" y="3685511"/>
            <a:ext cx="1370864" cy="201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Spline Sans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Spline Sans"/>
                <a:ea typeface="Spline Sans"/>
                <a:cs typeface="Spline Sans"/>
                <a:sym typeface="Spline Sans"/>
              </a:rPr>
              <a:t>Tooling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40023" y="4786536"/>
            <a:ext cx="8063954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600"/>
              <a:buFont typeface="Barlow"/>
              <a:buNone/>
            </a:pPr>
            <a:r>
              <a:rPr b="0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Outmoni uses a </a:t>
            </a:r>
            <a:r>
              <a:rPr b="1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TurboRepo monorepo</a:t>
            </a:r>
            <a:r>
              <a:rPr b="0" i="0" lang="en-US" sz="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to co-locate the frontend and backend in a single repository — sharing TypeScript configs, Prisma schemas, and UI components while maintaining clean separation of concerns. This setup enables faster local development, consistent linting, and simplified dependency management across both apps.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/>
          <p:nvPr/>
        </p:nvSpPr>
        <p:spPr>
          <a:xfrm>
            <a:off x="540023" y="445145"/>
            <a:ext cx="8063954" cy="395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50"/>
              <a:buFont typeface="Spline Sans"/>
              <a:buNone/>
            </a:pPr>
            <a:r>
              <a:rPr b="1" i="0" lang="en-US" sz="24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REST API Flow &amp; CI/CD Pipeline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540023" y="1168078"/>
            <a:ext cx="3858444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API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540023" y="1496764"/>
            <a:ext cx="3858444" cy="874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Outmoni exposes a clean REST API with dedicated endpoints for authentication, transactions, and analytics. The frontend communicates with the Express backend via typed API calls, with JWT-based session management.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750296" y="1168078"/>
            <a:ext cx="3858444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GitHub Actions CI/CD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750296" y="1496764"/>
            <a:ext cx="3858444" cy="656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Barlow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Every push triggers an automated pipeline — linting, type-checking, and testing run on every PR. Merges to </a:t>
            </a:r>
            <a:r>
              <a:rPr b="0" i="0" lang="en-US" sz="1100" u="none" cap="none" strike="noStrike">
                <a:solidFill>
                  <a:srgbClr val="E0E4E6"/>
                </a:solidFill>
                <a:highlight>
                  <a:srgbClr val="171528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i="0" lang="en-US" sz="11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auto-deploy to production.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540023" y="2637086"/>
            <a:ext cx="284485" cy="17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 Light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540023" y="2859732"/>
            <a:ext cx="3966418" cy="19050"/>
          </a:xfrm>
          <a:prstGeom prst="rect">
            <a:avLst/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540023" y="2968898"/>
            <a:ext cx="3966418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Client sends request (Next.js)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637559" y="2637086"/>
            <a:ext cx="284485" cy="17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 Light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637559" y="2859732"/>
            <a:ext cx="3966418" cy="19050"/>
          </a:xfrm>
          <a:prstGeom prst="rect">
            <a:avLst/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4637559" y="2968898"/>
            <a:ext cx="3966418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JWT validated by Express middleware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40023" y="3404220"/>
            <a:ext cx="284485" cy="17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 Light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40023" y="3626867"/>
            <a:ext cx="3966418" cy="19050"/>
          </a:xfrm>
          <a:prstGeom prst="rect">
            <a:avLst/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540023" y="3736032"/>
            <a:ext cx="3966418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Prisma queries MongoDB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4637559" y="3404220"/>
            <a:ext cx="284485" cy="177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 Light"/>
              <a:buNone/>
            </a:pPr>
            <a:r>
              <a:rPr b="0" i="0" lang="en-US" sz="1100" u="none" cap="none" strike="noStrike">
                <a:solidFill>
                  <a:srgbClr val="E0E4E6"/>
                </a:solidFill>
                <a:latin typeface="Spline Sans Light"/>
                <a:ea typeface="Spline Sans Light"/>
                <a:cs typeface="Spline Sans Light"/>
                <a:sym typeface="Spline Sans Light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4637559" y="3626867"/>
            <a:ext cx="3966418" cy="19050"/>
          </a:xfrm>
          <a:prstGeom prst="rect">
            <a:avLst/>
          </a:prstGeom>
          <a:solidFill>
            <a:srgbClr val="0912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4637559" y="3736032"/>
            <a:ext cx="3966418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Spline Sans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JSON response rendered in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40023" y="4187726"/>
            <a:ext cx="2600548" cy="510555"/>
          </a:xfrm>
          <a:prstGeom prst="roundRect">
            <a:avLst>
              <a:gd fmla="val 41793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96516" y="4344219"/>
            <a:ext cx="2287563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🔬</a:t>
            </a: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Lint &amp; Type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3271689" y="4187726"/>
            <a:ext cx="2600548" cy="510555"/>
          </a:xfrm>
          <a:prstGeom prst="roundRect">
            <a:avLst>
              <a:gd fmla="val 41793" name="adj"/>
            </a:avLst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3428181" y="4344219"/>
            <a:ext cx="2287563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🧪</a:t>
            </a: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Run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003354" y="4187726"/>
            <a:ext cx="2600548" cy="510555"/>
          </a:xfrm>
          <a:prstGeom prst="roundRect">
            <a:avLst>
              <a:gd fmla="val 41793" name="adj"/>
            </a:avLst>
          </a:prstGeom>
          <a:solidFill>
            <a:srgbClr val="0A081B"/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6159847" y="4344219"/>
            <a:ext cx="2287563" cy="19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r>
              <a:rPr b="1" i="0" lang="en-US" sz="12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Deploy to Vercel + Render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3969023" y="614883"/>
            <a:ext cx="4634954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700"/>
              <a:buFont typeface="Spline Sans"/>
              <a:buNone/>
            </a:pPr>
            <a:r>
              <a:rPr b="1" i="0" lang="en-US" sz="27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Deployment Architecture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3969023" y="1274936"/>
            <a:ext cx="4634954" cy="3253680"/>
          </a:xfrm>
          <a:prstGeom prst="roundRect">
            <a:avLst>
              <a:gd fmla="val 7114" name="adj"/>
            </a:avLst>
          </a:prstGeom>
          <a:solidFill>
            <a:srgbClr val="0A081B"/>
          </a:solidFill>
          <a:ln cap="flat" cmpd="sng" w="190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3988073" y="1293986"/>
            <a:ext cx="2298427" cy="2101602"/>
          </a:xfrm>
          <a:prstGeom prst="rect">
            <a:avLst/>
          </a:prstGeom>
          <a:solidFill>
            <a:srgbClr val="0A0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4142333" y="1448246"/>
            <a:ext cx="19899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🔵</a:t>
            </a: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Frontend — Vercel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4142333" y="1759893"/>
            <a:ext cx="1989906" cy="12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Next.js app deployed on Vercel with automatic preview deployments per PR, edge caching, and zero-config SSR support.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286500" y="1293986"/>
            <a:ext cx="2298427" cy="2101602"/>
          </a:xfrm>
          <a:prstGeom prst="rect">
            <a:avLst/>
          </a:prstGeom>
          <a:solidFill>
            <a:srgbClr val="0A0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6286500" y="1293986"/>
            <a:ext cx="19050" cy="2101602"/>
          </a:xfrm>
          <a:prstGeom prst="roundRect">
            <a:avLst>
              <a:gd fmla="val 1215000" name="adj"/>
            </a:avLst>
          </a:prstGeom>
          <a:solidFill>
            <a:srgbClr val="0FC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6440760" y="1448246"/>
            <a:ext cx="19899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🟢</a:t>
            </a: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Backend — Render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440760" y="1759893"/>
            <a:ext cx="1989906" cy="148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Express.js API hosted on Render with auto-deploys from GitHub, managed environment variables, and persistent MongoDB connection.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3988073" y="3395588"/>
            <a:ext cx="4596854" cy="1113979"/>
          </a:xfrm>
          <a:prstGeom prst="rect">
            <a:avLst/>
          </a:prstGeom>
          <a:solidFill>
            <a:srgbClr val="0A0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3988073" y="3395588"/>
            <a:ext cx="4596854" cy="19050"/>
          </a:xfrm>
          <a:prstGeom prst="roundRect">
            <a:avLst>
              <a:gd fmla="val 1215000" name="adj"/>
            </a:avLst>
          </a:prstGeom>
          <a:solidFill>
            <a:srgbClr val="1D8D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4142333" y="3549848"/>
            <a:ext cx="4288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🟡</a:t>
            </a: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 Database — MongoDB Atlas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4142333" y="3861495"/>
            <a:ext cx="428833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Barlow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Fully managed cloud database with connection pooling, automated backups, and environment-scoped access control.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540023" y="543223"/>
            <a:ext cx="8063954" cy="3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300"/>
              <a:buFont typeface="Spline Sans"/>
              <a:buNone/>
            </a:pPr>
            <a:r>
              <a:rPr b="1" i="0" lang="en-US" sz="23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Key Learnings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540023" y="1210642"/>
            <a:ext cx="298326" cy="298326"/>
          </a:xfrm>
          <a:prstGeom prst="ellipse">
            <a:avLst/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952277" y="1256184"/>
            <a:ext cx="2199754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Spline Sans"/>
              <a:buNone/>
            </a:pPr>
            <a:r>
              <a:rPr b="1" i="0" lang="en-US" sz="11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Monorepos simplify complexity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952277" y="1554287"/>
            <a:ext cx="2199754" cy="591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TurboRepo made sharing types, configs, and utilities between apps seamless — a pattern I'll carry forward.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540023" y="2373734"/>
            <a:ext cx="298326" cy="298326"/>
          </a:xfrm>
          <a:prstGeom prst="ellipse">
            <a:avLst/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952277" y="2419276"/>
            <a:ext cx="2199754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Spline Sans"/>
              <a:buNone/>
            </a:pPr>
            <a:r>
              <a:rPr b="1" i="0" lang="en-US" sz="11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TypeScript pays off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952277" y="2717378"/>
            <a:ext cx="2199754" cy="591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End-to-end type safety caught entire classes of bugs before runtime, especially across API boundaries.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540023" y="3536826"/>
            <a:ext cx="298326" cy="298326"/>
          </a:xfrm>
          <a:prstGeom prst="ellipse">
            <a:avLst/>
          </a:prstGeom>
          <a:solidFill>
            <a:srgbClr val="0A081B"/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952277" y="3582367"/>
            <a:ext cx="2199754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50"/>
              <a:buFont typeface="Spline Sans"/>
              <a:buNone/>
            </a:pPr>
            <a:r>
              <a:rPr b="1" i="0" lang="en-US" sz="11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CI/CD is non-negotiable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952277" y="3880470"/>
            <a:ext cx="2199754" cy="591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Automated pipelines gave confidence to ship fast. GitHub Actions became a core part of the dev workflow.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0346" y="1388343"/>
            <a:ext cx="5128320" cy="2906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/>
          <p:nvPr/>
        </p:nvSpPr>
        <p:spPr>
          <a:xfrm>
            <a:off x="3969023" y="429369"/>
            <a:ext cx="4634954" cy="361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250"/>
              <a:buFont typeface="Spline Sans"/>
              <a:buNone/>
            </a:pPr>
            <a:r>
              <a:rPr b="1" i="0" lang="en-US" sz="22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What's Next for Outmoni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4115470" y="955774"/>
            <a:ext cx="14288" cy="2977009"/>
          </a:xfrm>
          <a:prstGeom prst="roundRect">
            <a:avLst>
              <a:gd fmla="val 1366828" name="adj"/>
            </a:avLst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"/>
          <p:cNvSpPr/>
          <p:nvPr/>
        </p:nvSpPr>
        <p:spPr>
          <a:xfrm>
            <a:off x="4247629" y="1095077"/>
            <a:ext cx="390525" cy="14288"/>
          </a:xfrm>
          <a:prstGeom prst="roundRect">
            <a:avLst>
              <a:gd fmla="val 1366828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3969023" y="955774"/>
            <a:ext cx="292894" cy="292894"/>
          </a:xfrm>
          <a:prstGeom prst="ellipse">
            <a:avLst/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4028703" y="993725"/>
            <a:ext cx="173534" cy="216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766444" y="1000497"/>
            <a:ext cx="3837533" cy="180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Budget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4766444" y="1247180"/>
            <a:ext cx="3837533" cy="38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Push and email notifications when spending exceeds category budgets.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247629" y="1990279"/>
            <a:ext cx="390525" cy="14288"/>
          </a:xfrm>
          <a:prstGeom prst="roundRect">
            <a:avLst>
              <a:gd fmla="val 1366828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3969023" y="1850975"/>
            <a:ext cx="292894" cy="292894"/>
          </a:xfrm>
          <a:prstGeom prst="ellipse">
            <a:avLst/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4028703" y="1888927"/>
            <a:ext cx="173534" cy="216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766444" y="1895698"/>
            <a:ext cx="3837533" cy="180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Bank Sync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766444" y="2142381"/>
            <a:ext cx="3837533" cy="38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Plaid integration for automatic transaction imports from connected bank accounts.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4247629" y="2885480"/>
            <a:ext cx="390525" cy="14288"/>
          </a:xfrm>
          <a:prstGeom prst="roundRect">
            <a:avLst>
              <a:gd fmla="val 1366828" name="adj"/>
            </a:avLst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3969023" y="2746177"/>
            <a:ext cx="292894" cy="292894"/>
          </a:xfrm>
          <a:prstGeom prst="ellipse">
            <a:avLst/>
          </a:prstGeom>
          <a:solidFill>
            <a:srgbClr val="0A081B"/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4028703" y="2784128"/>
            <a:ext cx="173534" cy="216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4766444" y="2790899"/>
            <a:ext cx="3837533" cy="180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Reports &amp; Export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766444" y="3037582"/>
            <a:ext cx="3837533" cy="192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Monthly PDF reports and CSV export for deeper offline analysis.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247629" y="3588618"/>
            <a:ext cx="390525" cy="14288"/>
          </a:xfrm>
          <a:prstGeom prst="roundRect">
            <a:avLst>
              <a:gd fmla="val 1366828" name="adj"/>
            </a:avLst>
          </a:prstGeom>
          <a:solidFill>
            <a:srgbClr val="0912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3969023" y="3449315"/>
            <a:ext cx="292894" cy="292894"/>
          </a:xfrm>
          <a:prstGeom prst="ellipse">
            <a:avLst/>
          </a:prstGeom>
          <a:solidFill>
            <a:srgbClr val="0A081B"/>
          </a:solidFill>
          <a:ln cap="flat" cmpd="sng" w="14275">
            <a:solidFill>
              <a:srgbClr val="0912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4028703" y="3487266"/>
            <a:ext cx="173534" cy="216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Spline Sans"/>
              <a:buNone/>
            </a:pPr>
            <a:r>
              <a:rPr b="1" i="0" lang="en-US" sz="13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4766444" y="3494038"/>
            <a:ext cx="3837533" cy="180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Spline Sans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Mobile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4766444" y="3740721"/>
            <a:ext cx="3837533" cy="192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React Native companion app for on-the-go expense tracking.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3969023" y="4056311"/>
            <a:ext cx="4634954" cy="657820"/>
          </a:xfrm>
          <a:prstGeom prst="roundRect">
            <a:avLst>
              <a:gd fmla="val 29688" name="adj"/>
            </a:avLst>
          </a:prstGeom>
          <a:solidFill>
            <a:srgbClr val="008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9173" y="4233639"/>
            <a:ext cx="162744" cy="13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3"/>
          <p:cNvSpPr/>
          <p:nvPr/>
        </p:nvSpPr>
        <p:spPr>
          <a:xfrm>
            <a:off x="4392067" y="4198665"/>
            <a:ext cx="4081760" cy="384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Barlo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Outmoni is open source. Check out the repo to explore the code, contribute, or fork it for your own use.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